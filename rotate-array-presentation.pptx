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45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ARRAY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C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 Approach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Python explanation, one box at a time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840584" y="379476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40584" y="379476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2840584" y="462686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91560" y="379476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1560" y="379476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791560" y="462686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42536" y="379476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42536" y="379476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742536" y="462686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93512" y="379476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93512" y="379476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693512" y="462686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44488" y="379476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44488" y="379476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644488" y="462686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95464" y="379476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95464" y="379476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595464" y="462686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546440" y="379476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46440" y="379476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8546440" y="462686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2840584" y="5074920"/>
            <a:ext cx="6510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 = [1, 2, 3, 4, 5, 6, 7]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5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 the array RIGHT by 3 positions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206240" cy="1508760"/>
          </a:xfrm>
          <a:prstGeom prst="roundRect">
            <a:avLst>
              <a:gd name="adj" fmla="val 4242"/>
            </a:avLst>
          </a:prstGeom>
          <a:solidFill>
            <a:srgbClr val="191A28"/>
          </a:solidFill>
          <a:ln w="12700">
            <a:solidFill>
              <a:srgbClr val="3436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78308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78308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7647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input.py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075688"/>
            <a:ext cx="369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[1, 2, 3, 4, 5, 6, 7]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FF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37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move the last k elements to the front.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40584" y="39776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40584" y="39776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791560" y="39776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91560" y="39776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742536" y="39776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42536" y="39776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693512" y="39776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93512" y="39776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644488" y="39776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44488" y="39776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595464" y="39776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95464" y="39776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8546440" y="39776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46440" y="39776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6095848" y="4846320"/>
            <a:ext cx="0" cy="502920"/>
          </a:xfrm>
          <a:prstGeom prst="line">
            <a:avLst/>
          </a:prstGeom>
          <a:noFill/>
          <a:ln w="28575">
            <a:solidFill>
              <a:srgbClr val="45D9C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840584" y="548640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45D9C6"/>
          </a:solidFill>
          <a:ln w="28575">
            <a:solidFill>
              <a:srgbClr val="45D9C6"/>
            </a:solidFill>
            <a:prstDash val="solid"/>
          </a:ln>
          <a:effectLst>
            <a:outerShdw sx="100000" sy="100000" kx="0" ky="0" algn="bl" rotWithShape="0" blurRad="76200" dist="50800" dir="16200000">
              <a:srgbClr val="45D9C6">
                <a:alpha val="4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2840584" y="548640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3791560" y="548640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45D9C6"/>
          </a:solidFill>
          <a:ln w="28575">
            <a:solidFill>
              <a:srgbClr val="45D9C6"/>
            </a:solidFill>
            <a:prstDash val="solid"/>
          </a:ln>
          <a:effectLst>
            <a:outerShdw sx="100000" sy="100000" kx="0" ky="0" algn="bl" rotWithShape="0" blurRad="76200" dist="50800" dir="16200000">
              <a:srgbClr val="45D9C6">
                <a:alpha val="4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3791560" y="548640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4742536" y="548640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45D9C6"/>
          </a:solidFill>
          <a:ln w="28575">
            <a:solidFill>
              <a:srgbClr val="45D9C6"/>
            </a:solidFill>
            <a:prstDash val="solid"/>
          </a:ln>
          <a:effectLst>
            <a:outerShdw sx="100000" sy="100000" kx="0" ky="0" algn="bl" rotWithShape="0" blurRad="76200" dist="50800" dir="16200000">
              <a:srgbClr val="45D9C6">
                <a:alpha val="4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4742536" y="548640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5693512" y="548640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93512" y="548640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6644488" y="548640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44488" y="548640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7595464" y="548640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595464" y="548640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8546440" y="548640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46440" y="548640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400" dirty="0"/>
          </a:p>
        </p:txBody>
      </p:sp>
      <p:sp>
        <p:nvSpPr>
          <p:cNvPr id="40" name="Text 38"/>
          <p:cNvSpPr txBox="1"/>
          <p:nvPr/>
        </p:nvSpPr>
        <p:spPr>
          <a:xfrm>
            <a:off x="2840584" y="6309360"/>
            <a:ext cx="6510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5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3 elements swing around to the front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5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AT A TIME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ONE right rotation mean?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2840584" y="1600200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840584" y="19202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40584" y="19202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2840584" y="275234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91560" y="19202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1560" y="19202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791560" y="275234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42536" y="19202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42536" y="19202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742536" y="275234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93512" y="19202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93512" y="19202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693512" y="275234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44488" y="19202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44488" y="19202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644488" y="275234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95464" y="19202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95464" y="19202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595464" y="275234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546440" y="19202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46440" y="19202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8546440" y="275234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95848" y="3063240"/>
            <a:ext cx="0" cy="411480"/>
          </a:xfrm>
          <a:prstGeom prst="line">
            <a:avLst/>
          </a:prstGeom>
          <a:noFill/>
          <a:ln w="28575">
            <a:solidFill>
              <a:srgbClr val="FF6E6E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2743200" y="3063240"/>
            <a:ext cx="6702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right by one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2840584" y="3794760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840584" y="411480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FF6E6E"/>
          </a:solidFill>
          <a:ln w="28575">
            <a:solidFill>
              <a:srgbClr val="FF6E6E"/>
            </a:solidFill>
            <a:prstDash val="solid"/>
          </a:ln>
          <a:effectLst>
            <a:outerShdw sx="100000" sy="100000" kx="0" ky="0" algn="bl" rotWithShape="0" blurRad="76200" dist="50800" dir="16200000">
              <a:srgbClr val="FF6E6E">
                <a:alpha val="4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2840584" y="411480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2840584" y="494690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791560" y="411480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791560" y="411480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3791560" y="494690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42536" y="411480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742536" y="411480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4742536" y="494690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93512" y="411480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693512" y="411480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400" dirty="0"/>
          </a:p>
        </p:txBody>
      </p:sp>
      <p:sp>
        <p:nvSpPr>
          <p:cNvPr id="40" name="Text 38"/>
          <p:cNvSpPr txBox="1"/>
          <p:nvPr/>
        </p:nvSpPr>
        <p:spPr>
          <a:xfrm>
            <a:off x="5693512" y="494690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644488" y="411480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644488" y="411480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400" dirty="0"/>
          </a:p>
        </p:txBody>
      </p:sp>
      <p:sp>
        <p:nvSpPr>
          <p:cNvPr id="43" name="Text 41"/>
          <p:cNvSpPr txBox="1"/>
          <p:nvPr/>
        </p:nvSpPr>
        <p:spPr>
          <a:xfrm>
            <a:off x="6644488" y="494690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595464" y="411480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595464" y="411480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400" dirty="0"/>
          </a:p>
        </p:txBody>
      </p:sp>
      <p:sp>
        <p:nvSpPr>
          <p:cNvPr id="46" name="Text 44"/>
          <p:cNvSpPr txBox="1"/>
          <p:nvPr/>
        </p:nvSpPr>
        <p:spPr>
          <a:xfrm>
            <a:off x="7595464" y="494690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546440" y="411480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546440" y="411480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400" dirty="0"/>
          </a:p>
        </p:txBody>
      </p:sp>
      <p:sp>
        <p:nvSpPr>
          <p:cNvPr id="49" name="Text 47"/>
          <p:cNvSpPr txBox="1"/>
          <p:nvPr/>
        </p:nvSpPr>
        <p:spPr>
          <a:xfrm>
            <a:off x="8546440" y="494690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503920" y="4892040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1D1F30"/>
          </a:solidFill>
          <a:ln w="19050">
            <a:solidFill>
              <a:srgbClr val="FF6E6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503920" y="4892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  →  First position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8503920" y="5532120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1D1F30"/>
          </a:solidFill>
          <a:ln w="19050">
            <a:solidFill>
              <a:srgbClr val="45D9C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503920" y="5532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5D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Everyone else shifts +1 →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5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brute force work?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176272" y="2724912"/>
            <a:ext cx="1133856" cy="1133856"/>
          </a:xfrm>
          <a:prstGeom prst="ellipse">
            <a:avLst/>
          </a:prstGeom>
          <a:solidFill>
            <a:srgbClr val="1D1F30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76272" y="2724912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442569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last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32120" y="2724912"/>
            <a:ext cx="1133856" cy="1133856"/>
          </a:xfrm>
          <a:prstGeom prst="ellipse">
            <a:avLst/>
          </a:prstGeom>
          <a:solidFill>
            <a:srgbClr val="1D1F30"/>
          </a:solidFill>
          <a:ln w="28575">
            <a:solidFill>
              <a:srgbClr val="45D9C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32120" y="2724912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5D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818888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5D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818888" y="442569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every element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right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87968" y="2724912"/>
            <a:ext cx="1133856" cy="1133856"/>
          </a:xfrm>
          <a:prstGeom prst="ellipse">
            <a:avLst/>
          </a:prstGeom>
          <a:solidFill>
            <a:srgbClr val="1D1F30"/>
          </a:solidFill>
          <a:ln w="28575">
            <a:solidFill>
              <a:srgbClr val="FF6E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87968" y="2724912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174736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174736" y="442569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saved value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index 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47288" y="3291840"/>
            <a:ext cx="1947672" cy="0"/>
          </a:xfrm>
          <a:prstGeom prst="line">
            <a:avLst/>
          </a:prstGeom>
          <a:noFill/>
          <a:ln w="31750">
            <a:solidFill>
              <a:srgbClr val="34364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03136" y="3291840"/>
            <a:ext cx="1947672" cy="0"/>
          </a:xfrm>
          <a:prstGeom prst="line">
            <a:avLst/>
          </a:prstGeom>
          <a:noFill/>
          <a:ln w="31750">
            <a:solidFill>
              <a:srgbClr val="34364C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1371600" y="58064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these three steps once for every rotation — the code comes next.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5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the last element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023360" cy="1051560"/>
          </a:xfrm>
          <a:prstGeom prst="roundRect">
            <a:avLst>
              <a:gd name="adj" fmla="val 6087"/>
            </a:avLst>
          </a:prstGeom>
          <a:solidFill>
            <a:srgbClr val="191A28"/>
          </a:solidFill>
          <a:ln w="12700">
            <a:solidFill>
              <a:srgbClr val="3436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73736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73736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7190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step1.py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029968"/>
            <a:ext cx="3511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FF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 = nums[-1]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7432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nums[-1] always points to the array's final box, no matter its length.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40584" y="39776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40584" y="39776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840584" y="480974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91560" y="39776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91560" y="39776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3791560" y="480974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42536" y="39776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42536" y="39776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4742536" y="480974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93512" y="39776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93512" y="39776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5693512" y="480974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44488" y="39776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44488" y="39776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6644488" y="480974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595464" y="39776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95464" y="39776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7595464" y="480974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546440" y="39776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FFB454"/>
          </a:solidFill>
          <a:ln w="28575">
            <a:solidFill>
              <a:srgbClr val="FFB454"/>
            </a:solidFill>
            <a:prstDash val="solid"/>
          </a:ln>
          <a:effectLst>
            <a:outerShdw sx="100000" sy="100000" kx="0" ky="0" algn="bl" rotWithShape="0" blurRad="76200" dist="50800" dir="16200000">
              <a:srgbClr val="FFB454">
                <a:alpha val="4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546440" y="39776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8546440" y="480974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948776" y="5074920"/>
            <a:ext cx="0" cy="41148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942936" y="553212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1D1F30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942936" y="5532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 = 7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5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every element one step right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1188720"/>
          </a:xfrm>
          <a:prstGeom prst="roundRect">
            <a:avLst>
              <a:gd name="adj" fmla="val 5385"/>
            </a:avLst>
          </a:prstGeom>
          <a:solidFill>
            <a:srgbClr val="191A28"/>
          </a:solidFill>
          <a:ln w="12700">
            <a:solidFill>
              <a:srgbClr val="3436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60020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60020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58191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step2.py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892808"/>
            <a:ext cx="4608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range(n-1, 0, -1):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45D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nums[i] = nums[i-1]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0" y="1508760"/>
            <a:ext cx="5669280" cy="1005840"/>
          </a:xfrm>
          <a:prstGeom prst="roundRect">
            <a:avLst>
              <a:gd name="adj" fmla="val 7273"/>
            </a:avLst>
          </a:prstGeom>
          <a:solidFill>
            <a:srgbClr val="1D1F30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0" y="150876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 = 7   (kept safe, off to the side)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40584" y="2697480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SHIFT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40584" y="30175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40584" y="30175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791560" y="30175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91560" y="30175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742536" y="30175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42536" y="30175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693512" y="30175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93512" y="30175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644488" y="30175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44488" y="30175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595464" y="30175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95464" y="30175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8546440" y="30175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91A28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46440" y="30175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8354416" y="3995928"/>
            <a:ext cx="237744" cy="0"/>
          </a:xfrm>
          <a:prstGeom prst="line">
            <a:avLst/>
          </a:prstGeom>
          <a:noFill/>
          <a:ln w="25400">
            <a:solidFill>
              <a:srgbClr val="45D9C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403440" y="3995928"/>
            <a:ext cx="237744" cy="0"/>
          </a:xfrm>
          <a:prstGeom prst="line">
            <a:avLst/>
          </a:prstGeom>
          <a:noFill/>
          <a:ln w="25400">
            <a:solidFill>
              <a:srgbClr val="45D9C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452464" y="3995928"/>
            <a:ext cx="237744" cy="0"/>
          </a:xfrm>
          <a:prstGeom prst="line">
            <a:avLst/>
          </a:prstGeom>
          <a:noFill/>
          <a:ln w="25400">
            <a:solidFill>
              <a:srgbClr val="45D9C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501488" y="3995928"/>
            <a:ext cx="237744" cy="0"/>
          </a:xfrm>
          <a:prstGeom prst="line">
            <a:avLst/>
          </a:prstGeom>
          <a:noFill/>
          <a:ln w="25400">
            <a:solidFill>
              <a:srgbClr val="45D9C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550512" y="3995928"/>
            <a:ext cx="237744" cy="0"/>
          </a:xfrm>
          <a:prstGeom prst="line">
            <a:avLst/>
          </a:prstGeom>
          <a:noFill/>
          <a:ln w="25400">
            <a:solidFill>
              <a:srgbClr val="45D9C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599536" y="3995928"/>
            <a:ext cx="237744" cy="0"/>
          </a:xfrm>
          <a:prstGeom prst="line">
            <a:avLst/>
          </a:prstGeom>
          <a:noFill/>
          <a:ln w="25400">
            <a:solidFill>
              <a:srgbClr val="45D9C6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2840584" y="4069080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45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right-to-left, so no value is overwritten before it's copied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2840584" y="4526280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SHIFT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840584" y="48463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28575">
            <a:solidFill>
              <a:srgbClr val="45D9C6"/>
            </a:solidFill>
            <a:prstDash val="solid"/>
          </a:ln>
          <a:effectLst>
            <a:outerShdw sx="100000" sy="100000" kx="0" ky="0" algn="bl" rotWithShape="0" blurRad="76200" dist="50800" dir="16200000">
              <a:srgbClr val="1D1F30">
                <a:alpha val="4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2840584" y="48463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5D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3791560" y="48463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791560" y="48463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4742536" y="48463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742536" y="48463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400" dirty="0"/>
          </a:p>
        </p:txBody>
      </p:sp>
      <p:sp>
        <p:nvSpPr>
          <p:cNvPr id="41" name="Shape 39"/>
          <p:cNvSpPr/>
          <p:nvPr/>
        </p:nvSpPr>
        <p:spPr>
          <a:xfrm>
            <a:off x="5693512" y="48463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693512" y="48463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6644488" y="48463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644488" y="48463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400" dirty="0"/>
          </a:p>
        </p:txBody>
      </p:sp>
      <p:sp>
        <p:nvSpPr>
          <p:cNvPr id="45" name="Shape 43"/>
          <p:cNvSpPr/>
          <p:nvPr/>
        </p:nvSpPr>
        <p:spPr>
          <a:xfrm>
            <a:off x="7595464" y="48463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595464" y="48463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8546440" y="48463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546440" y="48463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400" dirty="0"/>
          </a:p>
        </p:txBody>
      </p:sp>
      <p:sp>
        <p:nvSpPr>
          <p:cNvPr id="49" name="Text 47"/>
          <p:cNvSpPr txBox="1"/>
          <p:nvPr/>
        </p:nvSpPr>
        <p:spPr>
          <a:xfrm>
            <a:off x="2840584" y="5715000"/>
            <a:ext cx="6510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0 is a placeholder for now — it gets overwritten in Step 3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5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the saved value at index 0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023360" cy="960120"/>
          </a:xfrm>
          <a:prstGeom prst="roundRect">
            <a:avLst>
              <a:gd name="adj" fmla="val 6667"/>
            </a:avLst>
          </a:prstGeom>
          <a:solidFill>
            <a:srgbClr val="191A28"/>
          </a:solidFill>
          <a:ln w="12700">
            <a:solidFill>
              <a:srgbClr val="3436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60020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60020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5819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step3.py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892808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FF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nums[0] = last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98080" y="155448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1D1F30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0" y="15544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  still holds  7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40584" y="2697480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40584" y="30175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40584" y="30175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791560" y="30175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91560" y="30175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742536" y="30175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42536" y="30175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693512" y="30175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93512" y="30175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644488" y="30175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44488" y="30175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595464" y="30175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95464" y="30175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8546440" y="30175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46440" y="30175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2703424" y="3913632"/>
            <a:ext cx="1078992" cy="438912"/>
          </a:xfrm>
          <a:prstGeom prst="roundRect">
            <a:avLst>
              <a:gd name="adj" fmla="val 16667"/>
            </a:avLst>
          </a:prstGeom>
          <a:solidFill>
            <a:srgbClr val="1D1F30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703424" y="3913632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 = 7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42920" y="4379976"/>
            <a:ext cx="0" cy="265176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2840584" y="4828032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840584" y="5138928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FF6E6E"/>
          </a:solidFill>
          <a:ln w="28575">
            <a:solidFill>
              <a:srgbClr val="FF6E6E"/>
            </a:solidFill>
            <a:prstDash val="solid"/>
          </a:ln>
          <a:effectLst>
            <a:outerShdw sx="100000" sy="100000" kx="0" ky="0" algn="bl" rotWithShape="0" blurRad="76200" dist="50800" dir="16200000">
              <a:srgbClr val="FF6E6E">
                <a:alpha val="4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2840584" y="5138928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3791560" y="5138928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791560" y="5138928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4742536" y="5138928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742536" y="5138928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5693512" y="5138928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693512" y="5138928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6644488" y="5138928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644488" y="5138928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400" dirty="0"/>
          </a:p>
        </p:txBody>
      </p:sp>
      <p:sp>
        <p:nvSpPr>
          <p:cNvPr id="41" name="Shape 39"/>
          <p:cNvSpPr/>
          <p:nvPr/>
        </p:nvSpPr>
        <p:spPr>
          <a:xfrm>
            <a:off x="7595464" y="5138928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595464" y="5138928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8546440" y="5138928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546440" y="5138928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400" dirty="0"/>
          </a:p>
        </p:txBody>
      </p:sp>
      <p:sp>
        <p:nvSpPr>
          <p:cNvPr id="45" name="Text 43"/>
          <p:cNvSpPr txBox="1"/>
          <p:nvPr/>
        </p:nvSpPr>
        <p:spPr>
          <a:xfrm>
            <a:off x="2840584" y="6053328"/>
            <a:ext cx="6510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temporary value at index 0 is replaced by the real one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5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complete rotation, start to finish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3224" y="1920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40584" y="16916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40584" y="16916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791560" y="16916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91560" y="16916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742536" y="16916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42536" y="16916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693512" y="16916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93512" y="16916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644488" y="16916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44488" y="16916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595464" y="16916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95464" y="16916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546440" y="16916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FFB454"/>
          </a:solidFill>
          <a:ln w="28575">
            <a:solidFill>
              <a:srgbClr val="FFB454"/>
            </a:solidFill>
            <a:prstDash val="solid"/>
          </a:ln>
          <a:effectLst>
            <a:outerShdw sx="100000" sy="100000" kx="0" ky="0" algn="bl" rotWithShape="0" blurRad="76200" dist="50800" dir="16200000">
              <a:srgbClr val="FFB454">
                <a:alpha val="4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546440" y="16916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103224" y="3474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40584" y="32461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40584" y="32461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3791560" y="32461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91560" y="32461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4742536" y="32461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42536" y="32461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5693512" y="32461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93512" y="32461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6644488" y="32461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44488" y="32461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7595464" y="32461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95464" y="32461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8546440" y="32461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546440" y="32461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1103224" y="5029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840584" y="480060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FF6E6E"/>
          </a:solidFill>
          <a:ln w="28575">
            <a:solidFill>
              <a:srgbClr val="FF6E6E"/>
            </a:solidFill>
            <a:prstDash val="solid"/>
          </a:ln>
          <a:effectLst>
            <a:outerShdw sx="100000" sy="100000" kx="0" ky="0" algn="bl" rotWithShape="0" blurRad="76200" dist="50800" dir="16200000">
              <a:srgbClr val="FF6E6E">
                <a:alpha val="4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2840584" y="480060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3791560" y="480060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791560" y="480060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4742536" y="480060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742536" y="480060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400" dirty="0"/>
          </a:p>
        </p:txBody>
      </p:sp>
      <p:sp>
        <p:nvSpPr>
          <p:cNvPr id="41" name="Shape 39"/>
          <p:cNvSpPr/>
          <p:nvPr/>
        </p:nvSpPr>
        <p:spPr>
          <a:xfrm>
            <a:off x="5693512" y="480060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693512" y="480060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6644488" y="480060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644488" y="480060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400" dirty="0"/>
          </a:p>
        </p:txBody>
      </p:sp>
      <p:sp>
        <p:nvSpPr>
          <p:cNvPr id="45" name="Shape 43"/>
          <p:cNvSpPr/>
          <p:nvPr/>
        </p:nvSpPr>
        <p:spPr>
          <a:xfrm>
            <a:off x="7595464" y="480060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595464" y="480060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8546440" y="480060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546440" y="480060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400" dirty="0"/>
          </a:p>
        </p:txBody>
      </p:sp>
      <p:sp>
        <p:nvSpPr>
          <p:cNvPr id="49" name="Shape 47"/>
          <p:cNvSpPr/>
          <p:nvPr/>
        </p:nvSpPr>
        <p:spPr>
          <a:xfrm>
            <a:off x="6095848" y="2523744"/>
            <a:ext cx="0" cy="667512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7498080" y="24871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7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095848" y="4078224"/>
            <a:ext cx="0" cy="667512"/>
          </a:xfrm>
          <a:prstGeom prst="line">
            <a:avLst/>
          </a:prstGeom>
          <a:noFill/>
          <a:ln w="28575">
            <a:solidFill>
              <a:srgbClr val="FF6E6E"/>
            </a:solidFill>
            <a:prstDash val="solid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7498080" y="40416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7 at index 0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3566160" y="6172200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1D1F30"/>
          </a:solidFill>
          <a:ln w="19050">
            <a:solidFill>
              <a:srgbClr val="45D9C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566160" y="6172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5D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right rotation — complete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5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OUTER LOOP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the whole process k = 3 times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23360" y="1417320"/>
            <a:ext cx="4114800" cy="822960"/>
          </a:xfrm>
          <a:prstGeom prst="roundRect">
            <a:avLst>
              <a:gd name="adj" fmla="val 7778"/>
            </a:avLst>
          </a:prstGeom>
          <a:solidFill>
            <a:srgbClr val="191A28"/>
          </a:solidFill>
          <a:ln w="12700">
            <a:solidFill>
              <a:srgbClr val="3436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160020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4425696" y="160020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4645152" y="160020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023360" y="15819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loop.py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279392" y="1892808"/>
            <a:ext cx="3602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45D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_ in range(k):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8904" y="2715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40584" y="251460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40584" y="251460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791560" y="251460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91560" y="251460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742536" y="251460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42536" y="251460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693512" y="251460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93512" y="251460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644488" y="251460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44488" y="251460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595464" y="251460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95464" y="251460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8546440" y="251460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46440" y="251460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021928" y="3319272"/>
            <a:ext cx="0" cy="356616"/>
          </a:xfrm>
          <a:prstGeom prst="line">
            <a:avLst/>
          </a:prstGeom>
          <a:noFill/>
          <a:ln w="22225">
            <a:solidFill>
              <a:srgbClr val="868AA3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828904" y="3904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2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840584" y="37033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840584" y="37033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3791560" y="37033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791560" y="37033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4742536" y="37033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42536" y="37033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5693512" y="37033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693512" y="37033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6644488" y="37033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44488" y="37033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7595464" y="37033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595464" y="37033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8546440" y="370332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546440" y="37033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400" dirty="0"/>
          </a:p>
        </p:txBody>
      </p:sp>
      <p:sp>
        <p:nvSpPr>
          <p:cNvPr id="41" name="Shape 39"/>
          <p:cNvSpPr/>
          <p:nvPr/>
        </p:nvSpPr>
        <p:spPr>
          <a:xfrm>
            <a:off x="9021928" y="4507992"/>
            <a:ext cx="0" cy="356616"/>
          </a:xfrm>
          <a:prstGeom prst="line">
            <a:avLst/>
          </a:prstGeom>
          <a:noFill/>
          <a:ln w="22225">
            <a:solidFill>
              <a:srgbClr val="868AA3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828904" y="5093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5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3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840584" y="48920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45D9C6"/>
          </a:solidFill>
          <a:ln w="28575">
            <a:solidFill>
              <a:srgbClr val="45D9C6"/>
            </a:solidFill>
            <a:prstDash val="solid"/>
          </a:ln>
          <a:effectLst>
            <a:outerShdw sx="100000" sy="100000" kx="0" ky="0" algn="bl" rotWithShape="0" blurRad="76200" dist="50800" dir="16200000">
              <a:srgbClr val="45D9C6">
                <a:alpha val="45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2840584" y="48920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400" dirty="0"/>
          </a:p>
        </p:txBody>
      </p:sp>
      <p:sp>
        <p:nvSpPr>
          <p:cNvPr id="45" name="Shape 43"/>
          <p:cNvSpPr/>
          <p:nvPr/>
        </p:nvSpPr>
        <p:spPr>
          <a:xfrm>
            <a:off x="3791560" y="48920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45D9C6"/>
          </a:solidFill>
          <a:ln w="28575">
            <a:solidFill>
              <a:srgbClr val="45D9C6"/>
            </a:solidFill>
            <a:prstDash val="solid"/>
          </a:ln>
          <a:effectLst>
            <a:outerShdw sx="100000" sy="100000" kx="0" ky="0" algn="bl" rotWithShape="0" blurRad="76200" dist="50800" dir="16200000">
              <a:srgbClr val="45D9C6">
                <a:alpha val="45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3791560" y="48920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4742536" y="48920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45D9C6"/>
          </a:solidFill>
          <a:ln w="28575">
            <a:solidFill>
              <a:srgbClr val="45D9C6"/>
            </a:solidFill>
            <a:prstDash val="solid"/>
          </a:ln>
          <a:effectLst>
            <a:outerShdw sx="100000" sy="100000" kx="0" ky="0" algn="bl" rotWithShape="0" blurRad="76200" dist="50800" dir="16200000">
              <a:srgbClr val="45D9C6">
                <a:alpha val="45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4742536" y="48920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400" dirty="0"/>
          </a:p>
        </p:txBody>
      </p:sp>
      <p:sp>
        <p:nvSpPr>
          <p:cNvPr id="49" name="Shape 47"/>
          <p:cNvSpPr/>
          <p:nvPr/>
        </p:nvSpPr>
        <p:spPr>
          <a:xfrm>
            <a:off x="5693512" y="48920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693512" y="48920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sp>
        <p:nvSpPr>
          <p:cNvPr id="51" name="Shape 49"/>
          <p:cNvSpPr/>
          <p:nvPr/>
        </p:nvSpPr>
        <p:spPr>
          <a:xfrm>
            <a:off x="6644488" y="48920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644488" y="48920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400" dirty="0"/>
          </a:p>
        </p:txBody>
      </p:sp>
      <p:sp>
        <p:nvSpPr>
          <p:cNvPr id="53" name="Shape 51"/>
          <p:cNvSpPr/>
          <p:nvPr/>
        </p:nvSpPr>
        <p:spPr>
          <a:xfrm>
            <a:off x="7595464" y="48920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595464" y="48920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400" dirty="0"/>
          </a:p>
        </p:txBody>
      </p:sp>
      <p:sp>
        <p:nvSpPr>
          <p:cNvPr id="55" name="Shape 53"/>
          <p:cNvSpPr/>
          <p:nvPr/>
        </p:nvSpPr>
        <p:spPr>
          <a:xfrm>
            <a:off x="8546440" y="4892040"/>
            <a:ext cx="804672" cy="777240"/>
          </a:xfrm>
          <a:prstGeom prst="roundRect">
            <a:avLst>
              <a:gd name="adj" fmla="val 10588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546440" y="489204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400" dirty="0"/>
          </a:p>
        </p:txBody>
      </p:sp>
      <p:sp>
        <p:nvSpPr>
          <p:cNvPr id="57" name="Text 55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5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BUT IMPORTANT DETAIL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we write  k = k % n 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114800" cy="914400"/>
          </a:xfrm>
          <a:prstGeom prst="roundRect">
            <a:avLst>
              <a:gd name="adj" fmla="val 7000"/>
            </a:avLst>
          </a:prstGeom>
          <a:solidFill>
            <a:srgbClr val="191A28"/>
          </a:solidFill>
          <a:ln w="12700">
            <a:solidFill>
              <a:srgbClr val="3436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73736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73736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7190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guard.py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029968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7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45D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k % 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937760" y="1600200"/>
            <a:ext cx="3246120" cy="1874520"/>
          </a:xfrm>
          <a:prstGeom prst="roundRect">
            <a:avLst>
              <a:gd name="adj" fmla="val 4390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82880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5D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3 % 7 = 3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8346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3  →  no change needed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412480" y="1600200"/>
            <a:ext cx="3246120" cy="1874520"/>
          </a:xfrm>
          <a:prstGeom prst="roundRect">
            <a:avLst>
              <a:gd name="adj" fmla="val 4390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182880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10 % 7 = 3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8346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10  →  same as k = 3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977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a 7-element array 7 full times brings it back to where it started.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4348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% operator strips away those “free” full loops, leaving only the rotations that matter.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13552" y="5038344"/>
            <a:ext cx="164592" cy="164592"/>
          </a:xfrm>
          <a:prstGeom prst="ellipse">
            <a:avLst/>
          </a:prstGeom>
          <a:solidFill>
            <a:srgbClr val="FF6E6E"/>
          </a:solidFill>
          <a:ln/>
        </p:spPr>
      </p:sp>
      <p:sp>
        <p:nvSpPr>
          <p:cNvPr id="19" name="Shape 17"/>
          <p:cNvSpPr/>
          <p:nvPr/>
        </p:nvSpPr>
        <p:spPr>
          <a:xfrm>
            <a:off x="6549732" y="5296555"/>
            <a:ext cx="164592" cy="164592"/>
          </a:xfrm>
          <a:prstGeom prst="ellipse">
            <a:avLst/>
          </a:prstGeom>
          <a:solidFill>
            <a:srgbClr val="34364C"/>
          </a:solidFill>
          <a:ln/>
        </p:spPr>
      </p:sp>
      <p:sp>
        <p:nvSpPr>
          <p:cNvPr id="20" name="Shape 18"/>
          <p:cNvSpPr/>
          <p:nvPr/>
        </p:nvSpPr>
        <p:spPr>
          <a:xfrm>
            <a:off x="6682157" y="5876749"/>
            <a:ext cx="164592" cy="164592"/>
          </a:xfrm>
          <a:prstGeom prst="ellipse">
            <a:avLst/>
          </a:prstGeom>
          <a:solidFill>
            <a:srgbClr val="34364C"/>
          </a:solidFill>
          <a:ln/>
        </p:spPr>
      </p:sp>
      <p:sp>
        <p:nvSpPr>
          <p:cNvPr id="21" name="Shape 19"/>
          <p:cNvSpPr/>
          <p:nvPr/>
        </p:nvSpPr>
        <p:spPr>
          <a:xfrm>
            <a:off x="6311109" y="6342028"/>
            <a:ext cx="164592" cy="164592"/>
          </a:xfrm>
          <a:prstGeom prst="ellipse">
            <a:avLst/>
          </a:prstGeom>
          <a:solidFill>
            <a:srgbClr val="34364C"/>
          </a:solidFill>
          <a:ln/>
        </p:spPr>
      </p:sp>
      <p:sp>
        <p:nvSpPr>
          <p:cNvPr id="22" name="Shape 20"/>
          <p:cNvSpPr/>
          <p:nvPr/>
        </p:nvSpPr>
        <p:spPr>
          <a:xfrm>
            <a:off x="5715994" y="6342028"/>
            <a:ext cx="164592" cy="164592"/>
          </a:xfrm>
          <a:prstGeom prst="ellipse">
            <a:avLst/>
          </a:prstGeom>
          <a:solidFill>
            <a:srgbClr val="34364C"/>
          </a:solidFill>
          <a:ln/>
        </p:spPr>
      </p:sp>
      <p:sp>
        <p:nvSpPr>
          <p:cNvPr id="23" name="Shape 21"/>
          <p:cNvSpPr/>
          <p:nvPr/>
        </p:nvSpPr>
        <p:spPr>
          <a:xfrm>
            <a:off x="5344946" y="5876749"/>
            <a:ext cx="164592" cy="164592"/>
          </a:xfrm>
          <a:prstGeom prst="ellipse">
            <a:avLst/>
          </a:prstGeom>
          <a:solidFill>
            <a:srgbClr val="34364C"/>
          </a:solidFill>
          <a:ln/>
        </p:spPr>
      </p:sp>
      <p:sp>
        <p:nvSpPr>
          <p:cNvPr id="24" name="Shape 22"/>
          <p:cNvSpPr/>
          <p:nvPr/>
        </p:nvSpPr>
        <p:spPr>
          <a:xfrm>
            <a:off x="5477372" y="5296555"/>
            <a:ext cx="164592" cy="164592"/>
          </a:xfrm>
          <a:prstGeom prst="ellipse">
            <a:avLst/>
          </a:prstGeom>
          <a:solidFill>
            <a:srgbClr val="34364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5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brute-force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675120" cy="4617720"/>
          </a:xfrm>
          <a:prstGeom prst="roundRect">
            <a:avLst>
              <a:gd name="adj" fmla="val 1386"/>
            </a:avLst>
          </a:prstGeom>
          <a:solidFill>
            <a:srgbClr val="191A28"/>
          </a:solidFill>
          <a:ln w="12700">
            <a:solidFill>
              <a:srgbClr val="3436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69164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69164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6733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rotate.py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984248"/>
            <a:ext cx="616305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rotate(nums, k):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len(nums)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45D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 = k % n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b="1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range(k):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FF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last = nums[-1]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 in range(n-1, 0, -1):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45D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nums[i] = nums[i-1]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FF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nums[0] = last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308592" y="1764792"/>
            <a:ext cx="768096" cy="768096"/>
          </a:xfrm>
          <a:prstGeom prst="ellipse">
            <a:avLst/>
          </a:prstGeom>
          <a:solidFill>
            <a:srgbClr val="1D1F30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08592" y="17647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0195560" y="19476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692640" y="2532888"/>
            <a:ext cx="0" cy="420624"/>
          </a:xfrm>
          <a:prstGeom prst="line">
            <a:avLst/>
          </a:prstGeom>
          <a:noFill/>
          <a:ln w="22225">
            <a:solidFill>
              <a:srgbClr val="34364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308592" y="2953512"/>
            <a:ext cx="768096" cy="768096"/>
          </a:xfrm>
          <a:prstGeom prst="ellipse">
            <a:avLst/>
          </a:prstGeom>
          <a:solidFill>
            <a:srgbClr val="1D1F30"/>
          </a:solidFill>
          <a:ln w="28575">
            <a:solidFill>
              <a:srgbClr val="45D9C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08592" y="29535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5D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0195560" y="31363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D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692640" y="3721608"/>
            <a:ext cx="0" cy="420624"/>
          </a:xfrm>
          <a:prstGeom prst="line">
            <a:avLst/>
          </a:prstGeom>
          <a:noFill/>
          <a:ln w="22225">
            <a:solidFill>
              <a:srgbClr val="34364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308592" y="4142232"/>
            <a:ext cx="768096" cy="768096"/>
          </a:xfrm>
          <a:prstGeom prst="ellipse">
            <a:avLst/>
          </a:prstGeom>
          <a:solidFill>
            <a:srgbClr val="1D1F30"/>
          </a:solidFill>
          <a:ln w="28575">
            <a:solidFill>
              <a:srgbClr val="FF6E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08592" y="41422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0195560" y="43251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692640" y="4910328"/>
            <a:ext cx="0" cy="420624"/>
          </a:xfrm>
          <a:prstGeom prst="line">
            <a:avLst/>
          </a:prstGeom>
          <a:noFill/>
          <a:ln w="22225">
            <a:solidFill>
              <a:srgbClr val="34364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308592" y="5330952"/>
            <a:ext cx="768096" cy="768096"/>
          </a:xfrm>
          <a:prstGeom prst="ellipse">
            <a:avLst/>
          </a:prstGeom>
          <a:solidFill>
            <a:srgbClr val="1D1F30"/>
          </a:solidFill>
          <a:ln w="28575">
            <a:solidFill>
              <a:srgbClr val="868A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08592" y="533095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68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10195560" y="551383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68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5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THIS APPROACH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&amp; space complexity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1D1F30"/>
          </a:solidFill>
          <a:ln w="19050">
            <a:solidFill>
              <a:srgbClr val="45D9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5D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× k)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45352" y="182880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1D1F30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45352" y="21031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33375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45720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outer loop runs k times, and every rotation shifts all n elements — no extra array is created, so memory use stays constant.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5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 rotation, in four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0120" y="1554480"/>
            <a:ext cx="548640" cy="548640"/>
          </a:xfrm>
          <a:prstGeom prst="ellipse">
            <a:avLst/>
          </a:prstGeom>
          <a:solidFill>
            <a:srgbClr val="1D1F30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last element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" y="2121408"/>
            <a:ext cx="548640" cy="548640"/>
          </a:xfrm>
          <a:prstGeom prst="ellipse">
            <a:avLst/>
          </a:prstGeom>
          <a:solidFill>
            <a:srgbClr val="1D1F30"/>
          </a:solidFill>
          <a:ln w="28575">
            <a:solidFill>
              <a:srgbClr val="45D9C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121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5D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2128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every element right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60120" y="2688336"/>
            <a:ext cx="548640" cy="548640"/>
          </a:xfrm>
          <a:prstGeom prst="ellipse">
            <a:avLst/>
          </a:prstGeom>
          <a:solidFill>
            <a:srgbClr val="1D1F30"/>
          </a:solidFill>
          <a:ln w="28575">
            <a:solidFill>
              <a:srgbClr val="FF6E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2688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27797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the saved value at index 0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60120" y="3255264"/>
            <a:ext cx="548640" cy="548640"/>
          </a:xfrm>
          <a:prstGeom prst="ellipse">
            <a:avLst/>
          </a:prstGeom>
          <a:solidFill>
            <a:srgbClr val="1D1F30"/>
          </a:solidFill>
          <a:ln w="28575">
            <a:solidFill>
              <a:srgbClr val="868A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3255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68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33467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k times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60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TRANSFORMATION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603504" cy="603504"/>
          </a:xfrm>
          <a:prstGeom prst="roundRect">
            <a:avLst>
              <a:gd name="adj" fmla="val 13636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434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43584" y="4434840"/>
            <a:ext cx="603504" cy="603504"/>
          </a:xfrm>
          <a:prstGeom prst="roundRect">
            <a:avLst>
              <a:gd name="adj" fmla="val 13636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43584" y="4434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938528" y="4434840"/>
            <a:ext cx="603504" cy="603504"/>
          </a:xfrm>
          <a:prstGeom prst="roundRect">
            <a:avLst>
              <a:gd name="adj" fmla="val 13636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938528" y="4434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633472" y="4434840"/>
            <a:ext cx="603504" cy="603504"/>
          </a:xfrm>
          <a:prstGeom prst="roundRect">
            <a:avLst>
              <a:gd name="adj" fmla="val 13636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33472" y="4434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328416" y="4434840"/>
            <a:ext cx="603504" cy="603504"/>
          </a:xfrm>
          <a:prstGeom prst="roundRect">
            <a:avLst>
              <a:gd name="adj" fmla="val 13636"/>
            </a:avLst>
          </a:prstGeom>
          <a:solidFill>
            <a:srgbClr val="45D9C6"/>
          </a:solidFill>
          <a:ln w="28575">
            <a:solidFill>
              <a:srgbClr val="45D9C6"/>
            </a:solidFill>
            <a:prstDash val="solid"/>
          </a:ln>
          <a:effectLst>
            <a:outerShdw sx="100000" sy="100000" kx="0" ky="0" algn="bl" rotWithShape="0" blurRad="76200" dist="50800" dir="16200000">
              <a:srgbClr val="45D9C6">
                <a:alpha val="4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3328416" y="4434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023360" y="4434840"/>
            <a:ext cx="603504" cy="603504"/>
          </a:xfrm>
          <a:prstGeom prst="roundRect">
            <a:avLst>
              <a:gd name="adj" fmla="val 13636"/>
            </a:avLst>
          </a:prstGeom>
          <a:solidFill>
            <a:srgbClr val="45D9C6"/>
          </a:solidFill>
          <a:ln w="28575">
            <a:solidFill>
              <a:srgbClr val="45D9C6"/>
            </a:solidFill>
            <a:prstDash val="solid"/>
          </a:ln>
          <a:effectLst>
            <a:outerShdw sx="100000" sy="100000" kx="0" ky="0" algn="bl" rotWithShape="0" blurRad="76200" dist="50800" dir="16200000">
              <a:srgbClr val="45D9C6">
                <a:alpha val="4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4023360" y="4434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718304" y="4434840"/>
            <a:ext cx="603504" cy="603504"/>
          </a:xfrm>
          <a:prstGeom prst="roundRect">
            <a:avLst>
              <a:gd name="adj" fmla="val 13636"/>
            </a:avLst>
          </a:prstGeom>
          <a:solidFill>
            <a:srgbClr val="45D9C6"/>
          </a:solidFill>
          <a:ln w="28575">
            <a:solidFill>
              <a:srgbClr val="45D9C6"/>
            </a:solidFill>
            <a:prstDash val="solid"/>
          </a:ln>
          <a:effectLst>
            <a:outerShdw sx="100000" sy="100000" kx="0" ky="0" algn="bl" rotWithShape="0" blurRad="76200" dist="50800" dir="16200000">
              <a:srgbClr val="45D9C6">
                <a:alpha val="4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4718304" y="4434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1663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 = [1, 2, 3, 4, 5, 6, 7]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52360" y="1645920"/>
            <a:ext cx="4206240" cy="4434840"/>
          </a:xfrm>
          <a:prstGeom prst="roundRect">
            <a:avLst>
              <a:gd name="adj" fmla="val 2174"/>
            </a:avLst>
          </a:prstGeom>
          <a:solidFill>
            <a:srgbClr val="1D1F30"/>
          </a:solidFill>
          <a:ln w="15875">
            <a:solidFill>
              <a:srgbClr val="34364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0" y="19659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EC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correctly — and can be optimized to O(n)</a:t>
            </a:r>
            <a:endParaRPr lang="en-US" sz="1600" dirty="0"/>
          </a:p>
          <a:p>
            <a:pPr algn="l" indent="0" marL="0">
              <a:buNone/>
            </a:pPr>
            <a:r>
              <a:rPr lang="en-US" sz="1600" i="1" dirty="0">
                <a:solidFill>
                  <a:srgbClr val="EC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reversal algorithm.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772400" y="352044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1D1F30"/>
          </a:solidFill>
          <a:ln w="19050">
            <a:solidFill>
              <a:srgbClr val="868AA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0" y="3520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[1,2,3,4,5,6,7]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555480" y="4114800"/>
            <a:ext cx="0" cy="365760"/>
          </a:xfrm>
          <a:prstGeom prst="line">
            <a:avLst/>
          </a:prstGeom>
          <a:noFill/>
          <a:ln w="28575">
            <a:solidFill>
              <a:srgbClr val="45D9C6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772400" y="457200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1D1F30"/>
          </a:solidFill>
          <a:ln w="19050">
            <a:solidFill>
              <a:srgbClr val="45D9C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772400" y="4572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5D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[5,6,7,1,2,3,4]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772400" y="52578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6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the reversal-based O(n) trick.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2026-09-12T17:12:07Z</dcterms:created>
  <dcterms:modified xsi:type="dcterms:W3CDTF">2026-09-12T17:12:07Z</dcterms:modified>
</cp:coreProperties>
</file>